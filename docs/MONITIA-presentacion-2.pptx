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F3A4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55448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37744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73152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201168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402336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9" name="Shape 7"/>
          <p:cNvSpPr/>
          <p:nvPr/>
        </p:nvSpPr>
        <p:spPr>
          <a:xfrm>
            <a:off x="1920240" y="448056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301752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530352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457200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585216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566928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80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IA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MONITIA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para detectar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antes de que pasen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1005840"/>
            <a:ext cx="6492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para monitorear máquinas en una fábrica con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y avisar, con ayuda de un modelo de IA (LSTM),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una pieza está a punto de fallar.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120640" y="2514600"/>
            <a:ext cx="6309360" cy="0"/>
          </a:xfrm>
          <a:prstGeom prst="line">
            <a:avLst/>
          </a:prstGeom>
          <a:noFill/>
          <a:ln w="12700">
            <a:solidFill>
              <a:srgbClr val="2E4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4944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Tecnológica de Nezahualcóyotl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2064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0" y="3291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Gestión de Software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2064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49440" y="3794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Proyectos de TI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12064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49440" y="4297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Mtra. Margarita Larios Calva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20640" y="4800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4944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Cerón Díaz Brayan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120640" y="5303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49440" y="5303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ITIC-901M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1218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pasa cuando una máquina se para sin avisar?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fábrica, cuando un motor o una pieza falla de repente, se detiene toda la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producción. Hay que llamar a alguien de emergencia, conseguir refacciones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y muchas veces pagar más caro solo porque nadie lo vio venir a tiempo.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$$$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por cada hora que la línea está parada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30632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avisos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0" y="37490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da una falla mecánica cuando es repentina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0" y="30632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0100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 más caro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001000" y="37490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reparar de emergencia que dar mantenimiento a tiempo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2182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956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lo que se necesita entonces?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3035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Adelantarnos a la falla. Poder ver en tiempo real cómo está cada máquina y que el sistema mismo nos diga, con datos, cuándo y por qué se va a romper algo, antes de que se pare la línea.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F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QUÉ SE TRATA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MONITIA: mantenimiento predictivo con IoT + 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5836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QUIERO LOGRAR?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es monitorear en tiempo real los motores y las máquinas más importantes de la línea, para que el sistema detecte cuando algo empieza a comportarse raro y me diga, casi con precisión, cuándo va a fallar una pieza y por qué. Y que mande la alerta al equipo de mantenimiento antes de que la máquina se detenga sola.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APLICACIÓN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proyecto que combina hardware y software: por un lado sensores conectados a las máquinas (parte IoT) y por otro un dashboard web donde se ve todo, más un módulo de IA que analiza los datos por detrás.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074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DÓNDE APLICA?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539496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motores y maquinaria crítica en líneas de producción que no se pueden dar el lujo de parar sin avisar.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60920" y="1691640"/>
            <a:ext cx="4279392" cy="1033272"/>
          </a:xfrm>
          <a:prstGeom prst="roundRect">
            <a:avLst>
              <a:gd name="adj" fmla="val 8850"/>
            </a:avLst>
          </a:prstGeom>
          <a:solidFill>
            <a:srgbClr val="121826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17830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869680" y="1783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sensores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60920" y="2862072"/>
            <a:ext cx="4279392" cy="1033272"/>
          </a:xfrm>
          <a:prstGeom prst="roundRect">
            <a:avLst>
              <a:gd name="adj" fmla="val 8850"/>
            </a:avLst>
          </a:prstGeom>
          <a:solidFill>
            <a:srgbClr val="121826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95351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869680" y="295351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IA (LSTM)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60920" y="4032504"/>
            <a:ext cx="4279392" cy="1033272"/>
          </a:xfrm>
          <a:prstGeom prst="roundRect">
            <a:avLst>
              <a:gd name="adj" fmla="val 8850"/>
            </a:avLst>
          </a:prstGeom>
          <a:solidFill>
            <a:srgbClr val="12182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4123944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869680" y="4123944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del sistema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5202936"/>
            <a:ext cx="4279392" cy="1033272"/>
          </a:xfrm>
          <a:prstGeom prst="roundRect">
            <a:avLst>
              <a:gd name="adj" fmla="val 8850"/>
            </a:avLst>
          </a:prstGeom>
          <a:solidFill>
            <a:srgbClr val="121826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5294376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869680" y="5294376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sin parar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F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 a poder hacer el sistema?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786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todo en tiempo real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Vibración, temperatura, sonido y consumo eléctrico de cada motor, al momento.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12182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5786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cosas raras con 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LSTM revisa los patrones y avisa cuando algo se sale de lo normal.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73736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1965960"/>
            <a:ext cx="502920" cy="50292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25786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Adivinar cuándo va a fallar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58200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más o menos cuándo y qué pieza es la que probablemente se va a dañar.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2182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8188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 alertas solo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212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avisa al equipo de mantenimiento sin que nadie tenga que estar revisando todo el día.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397764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4206240"/>
            <a:ext cx="502920" cy="50292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48188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semáforo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17720" y="5212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panel donde se ve rápido qué máquina está bien y cuál necesita atención.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397764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4206240"/>
            <a:ext cx="502920" cy="502920"/>
          </a:xfrm>
          <a:prstGeom prst="ellipse">
            <a:avLst/>
          </a:prstGeom>
          <a:solidFill>
            <a:srgbClr val="121826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48188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el historial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58200" y="5212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registro de qué fallas se evitaron y cuánto se ahorró por adelantarse.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F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LO USA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interactúa con MONITIA?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total son 5 actores: 4 personas y 1 automático (la IA)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240280"/>
            <a:ext cx="914400" cy="91440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de planta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quien ve el dashboard y checa cómo van las máquinas durante su turno.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240280"/>
            <a:ext cx="914400" cy="91440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de mantenimiento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931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llega la alerta y es quien va físicamente a revisar o arreglar la máquina.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0116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2240280"/>
            <a:ext cx="914400" cy="91440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mantenimiento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3931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los reportes para decidir en qué máquinas invertir primero.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78240" y="20116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2240280"/>
            <a:ext cx="914400" cy="91440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15400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del sistema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15400" y="3931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 alta sensores nuevos, ajusta umbrales y maneja usuarios.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21826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5257800"/>
            <a:ext cx="685800" cy="6858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257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91640" y="5212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IA (el único que no es una persona)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691640" y="55321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revisando los datos todo el tiempo y es el que genera las predicciones y manda las alertas, sin que nadie tenga que decirle que lo haga.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F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SE HACE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y tecnologías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1F3A4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Edge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4144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 Raspberry Pi (gateway)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163824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175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— sensor de vibración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739896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935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Termopar / infrarrojo — temperatura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315968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966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Micrófono MEMS — acústico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74573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SCT-013 — consumo eléctrico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5468112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3218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MQTT (Mosquitto)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173736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173736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1F3A4D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73736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&amp; IA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2587752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44144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TensorFlow / Keras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3163824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0175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/ RNN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3739896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5935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(preprocesamiento)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4315968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416966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/ TimescaleDB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489204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74573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5468112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53218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(microservicio de IA)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229600" y="173736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173736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1F3A4D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173736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&amp; Gestión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503920" y="2587752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0" y="244144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+ Recharts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503920" y="3163824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0" y="30175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(API REST)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503920" y="3739896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0" y="35935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503920" y="4315968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0" y="416966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(CI/CD)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503920" y="4892040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0" y="474573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 e Issues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503920" y="5468112"/>
            <a:ext cx="82296" cy="82296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0" y="53218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(para graficar)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F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sensor a la alerta, paso por paso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F3A4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78892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33756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Vibración · Temp.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Acústico · Corriente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28803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A3A3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70632" y="2286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F3A4D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278892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MQTT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333756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ESP32/RPi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MQTT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6592" y="28803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A3A3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992624" y="2286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F3A4D"/>
          </a:solidFill>
          <a:ln/>
        </p:spPr>
      </p:sp>
      <p:sp>
        <p:nvSpPr>
          <p:cNvPr id="16" name="Text 14"/>
          <p:cNvSpPr/>
          <p:nvPr/>
        </p:nvSpPr>
        <p:spPr>
          <a:xfrm>
            <a:off x="5102352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02352" y="278892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333756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guardan los datos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series de tiempo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58584" y="28803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A3A3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214616" y="2286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324344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24344" y="278892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IA (LSTM)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24344" y="333756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anomalías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predice fallas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80576" y="28803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A3A3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436608" y="2286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F3A4D"/>
          </a:solidFill>
          <a:ln/>
        </p:spPr>
      </p:sp>
      <p:sp>
        <p:nvSpPr>
          <p:cNvPr id="26" name="Text 24"/>
          <p:cNvSpPr/>
          <p:nvPr/>
        </p:nvSpPr>
        <p:spPr>
          <a:xfrm>
            <a:off x="9546336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46336" y="278892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46336" y="333756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todo y se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mandan las alertas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A2433"/>
          </a:solidFill>
          <a:ln w="12700">
            <a:solidFill>
              <a:srgbClr val="2E4A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7548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Básicamente, la IA está viendo todo el tiempo las 4 series de datos de los sensores. En cuanto algo se ve raro, calcula qué tan probable es que sea una falla, cuál pieza es la sospechosa y más o menos cuánto tiempo queda — y ahí mismo dispara la alerta, sin esperar a que la máquina se pare sola.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F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DE IOT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sensores y en dónde van montados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3063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2697480" cy="5029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acelerómetro (tipo MPU6050) pegado a la carcasa y a los rodamientos. Ahí se nota si hay desbalance o desgaste.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783080"/>
            <a:ext cx="2697480" cy="3063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1783080"/>
            <a:ext cx="2697480" cy="5029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783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93592" y="24231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Termopar o sensor infrarrojo en el bobinado y la carcasa, para ver si se está calentando de más por fricción o sobrecarga.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2784" y="1783080"/>
            <a:ext cx="2697480" cy="3063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783080"/>
            <a:ext cx="2697480" cy="5029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5" name="Text 13"/>
          <p:cNvSpPr/>
          <p:nvPr/>
        </p:nvSpPr>
        <p:spPr>
          <a:xfrm>
            <a:off x="6272784" y="1783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55664" y="24231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micrófono chiquito (MEMS) que agarra ruidos raros: fricción, holgura, cosas que no deberían sonar así.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34856" y="1783080"/>
            <a:ext cx="2697480" cy="3063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4856" y="1783080"/>
            <a:ext cx="2697480" cy="5029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9" name="Text 17"/>
          <p:cNvSpPr/>
          <p:nvPr/>
        </p:nvSpPr>
        <p:spPr>
          <a:xfrm>
            <a:off x="9134856" y="1783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eléctrico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17736" y="24231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sensor de corriente (SCT-013) que detecta cuando el motor está jalando más energía de la normal por esfuerzo mecánico.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12182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21208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comunican? Cada sensor manda sus lecturas por MQTT hacia un gateway (ESP32 o Raspberry Pi), que junta todo y lo reenvía al servidor donde se procesa la información, todo el tiempo y a alta frecuencia.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F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DE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 el modelo LSTM por dentro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88720" y="2075688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series de datos juntas (vibración, temperatura, sonido y consumo) de cada máquina, sincronizadas en el tiempo.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240280"/>
            <a:ext cx="0" cy="320040"/>
          </a:xfrm>
          <a:prstGeom prst="line">
            <a:avLst/>
          </a:prstGeom>
          <a:noFill/>
          <a:ln w="19050">
            <a:solidFill>
              <a:srgbClr val="C7D6D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limpian los datos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88720" y="3081528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normalizan, se les quita ruido y se agrupan en ventanas de tiempo para que el modelo pueda ver patrones.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0" cy="320040"/>
          </a:xfrm>
          <a:prstGeom prst="line">
            <a:avLst/>
          </a:prstGeom>
          <a:noFill/>
          <a:ln w="19050">
            <a:solidFill>
              <a:srgbClr val="C7D6D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1F3A4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LSTM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88720" y="4087368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es donde el modelo aprende cómo se comporta la máquina normalmente y detecta cuando algo se sale de ese patrón.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251960"/>
            <a:ext cx="0" cy="320040"/>
          </a:xfrm>
          <a:prstGeom prst="line">
            <a:avLst/>
          </a:prstGeom>
          <a:noFill/>
          <a:ln w="19050">
            <a:solidFill>
              <a:srgbClr val="C7D6D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devuelve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88720" y="5093208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puntaje de qué tan anómalo es, la probabilidad de falla, qué pieza es la sospechosa y cuánto tiempo queda más o menos.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86600" y="1783080"/>
            <a:ext cx="4526280" cy="4480560"/>
          </a:xfrm>
          <a:prstGeom prst="roundRect">
            <a:avLst>
              <a:gd name="adj" fmla="val 2041"/>
            </a:avLst>
          </a:prstGeom>
          <a:solidFill>
            <a:srgbClr val="121826"/>
          </a:solidFill>
          <a:ln/>
        </p:spPr>
      </p:sp>
      <p:sp>
        <p:nvSpPr>
          <p:cNvPr id="25" name="Text 23"/>
          <p:cNvSpPr/>
          <p:nvPr/>
        </p:nvSpPr>
        <p:spPr>
          <a:xfrm>
            <a:off x="736092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MODELO TE DICE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60920" y="2514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algo raro?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60920" y="28346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puntaje que compara lo que está pasando contra el comportamiento normal de la máquina.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60920" y="34472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va a romper?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60920" y="376732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 menos en cuánto tiempo, antes de llegar al punto crítico.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437997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va a romper?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60920" y="470001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sensor (vibración, calor, sonido, consumo) está marcando la mayor desviación.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53126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urgente es?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563270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nivel de severidad, para que el técnico sepa si va corriendo o puede esperar.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F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ALERTA A LA ACCIÓN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pasa desde que se detecta algo hasta que llega el técnico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1218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capturan los datos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sensores mandan lecturas cada pocos segundos por MQTT.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54680" y="28346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2240280"/>
            <a:ext cx="548640" cy="548640"/>
          </a:xfrm>
          <a:prstGeom prst="ellipse">
            <a:avLst/>
          </a:prstGeom>
          <a:solidFill>
            <a:srgbClr val="121826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los analiza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3383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revisa la ventana de datos más reciente.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28346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240280"/>
            <a:ext cx="548640" cy="548640"/>
          </a:xfrm>
          <a:prstGeom prst="ellipse">
            <a:avLst/>
          </a:prstGeom>
          <a:solidFill>
            <a:srgbClr val="12182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detecta una anomalía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383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puntaje se pasa del umbral que se considera normal.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23960" y="28346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3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52560" y="20116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35440" y="2240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35440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manda la alerta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35440" y="3383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una notificación al equipo de mantenimiento con la causa probable.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meta es que la alerta le llegue al técnico antes de que la máquina se pare sola.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F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quedan organizadas las carpetas en GitHub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monitia-industrial/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406640" cy="4343400"/>
          </a:xfrm>
          <a:prstGeom prst="roundRect">
            <a:avLst>
              <a:gd name="adj" fmla="val 1684"/>
            </a:avLst>
          </a:prstGeom>
          <a:solidFill>
            <a:srgbClr val="0C1119"/>
          </a:solidFill>
          <a:ln w="12700">
            <a:solidFill>
              <a:srgbClr val="2E4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52831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                        (arquitectura, historias de usuario, diagramas)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0779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iot-edge/                    (firmware ESP32, drivers de sensores, MQTT)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2872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drivers-sensores/          (vibracion, temperatura, acustico, consumo-electrico)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666744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data-pipeline/               (ingestion, procesamiento, almacenamiento series-tiempo)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0462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ml-model/                    (entrenamiento, modelos-lstm, preprocesamiento, evaluacion)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2569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backend-api/                 (controladores, servicios, modelos-datos, autenticacion)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80517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frontend-dashboard/          (componentes, vistas, assets, servicios-api)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18464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sistema-alertas/             (notificaciones-push, notificaciones-email)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564124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infraestructura/             (docker, ci-cd, monitoreo)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943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E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                      (unitarias, integracion, carga)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3880" y="1965960"/>
            <a:ext cx="3456432" cy="4343400"/>
          </a:xfrm>
          <a:prstGeom prst="roundRect">
            <a:avLst>
              <a:gd name="adj" fmla="val 2646"/>
            </a:avLst>
          </a:prstGeom>
          <a:solidFill>
            <a:srgbClr val="1F3A4D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GITHUB YA QUEDÓ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0" y="267919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8613648" y="253288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creado (privado)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12480" y="3300984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8613648" y="31546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Agregada la Mtra. Margarita Larios Calva como colaboradora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12480" y="392277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8613648" y="3776472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carpetas de cada componente ya listas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12480" y="4544568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8613648" y="4398264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rama main protegida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12480" y="5166360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8613648" y="5020056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forma de nombrar los commits por módulo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412480" y="578815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8613648" y="564184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ligados a cada carpeta/componente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F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 EN GITHUB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Historias de usuario y sus criterios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218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técnico de mantenimiento, quiero que me llegue una alerta cuando algo ande mal, para poder actuar antes de que la máquina falle de plano.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4087368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9502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puntaje de anomalía pasa el umbral, la alerta llega en menos de 5 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4663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alerta dice qué máquina es, qué pieza y qué tan grave está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5513832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53766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marcar la alerta como atendida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73736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21826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7373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24028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operador de planta, quiero ver el estado de cada máquina en un dashboard, para saber cómo va la línea sin tener que preguntar a nadie.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7033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4087368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39502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usa un semáforo (verde/amarillo/rojo) por máquina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4800600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4663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van actualizando solos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5513832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53766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filtrar por línea de producción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173736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2182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17373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224028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gerente de mantenimiento, quiero consultar el historial de fallas y predicciones, para decidir en dónde invertir primero.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37033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12480" y="4087368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8613648" y="39502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muestra cuántas anomalías hubo por máquina y por periodo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12480" y="4800600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5" name="Text 33"/>
          <p:cNvSpPr/>
          <p:nvPr/>
        </p:nvSpPr>
        <p:spPr>
          <a:xfrm>
            <a:off x="8613648" y="4663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exportar en PDF o Excel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412480" y="5513832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8613648" y="53766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cuánto se ahorró por adelantarse a la falla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F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 EN GITHUB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Backlog, ya priorizado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051560" cy="411480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5156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00200" y="1691640"/>
            <a:ext cx="6035040" cy="411480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691640"/>
            <a:ext cx="603504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 que hacer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35240" y="1691640"/>
            <a:ext cx="1920240" cy="411480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555480" y="1691640"/>
            <a:ext cx="1280160" cy="411480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2" name="Text 10"/>
          <p:cNvSpPr/>
          <p:nvPr/>
        </p:nvSpPr>
        <p:spPr>
          <a:xfrm>
            <a:off x="9555480" y="1691640"/>
            <a:ext cx="1280160" cy="411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03120"/>
            <a:ext cx="105156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03120"/>
            <a:ext cx="10515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00200" y="2103120"/>
            <a:ext cx="603504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2103120"/>
            <a:ext cx="603504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y calibrar los sensores en una máquina de prueba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2103120"/>
            <a:ext cx="192024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2103120"/>
            <a:ext cx="192024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55480" y="2103120"/>
            <a:ext cx="128016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55480" y="2103120"/>
            <a:ext cx="12801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464308"/>
            <a:ext cx="10515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464308"/>
            <a:ext cx="10515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00200" y="2464308"/>
            <a:ext cx="60350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2464308"/>
            <a:ext cx="603504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el gateway al broker MQTT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35240" y="2464308"/>
            <a:ext cx="19202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2464308"/>
            <a:ext cx="192024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55480" y="2464308"/>
            <a:ext cx="12801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55480" y="2464308"/>
            <a:ext cx="12801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2825496"/>
            <a:ext cx="105156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825496"/>
            <a:ext cx="10515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600200" y="2825496"/>
            <a:ext cx="603504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00200" y="2825496"/>
            <a:ext cx="603504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el pipeline que guarda las series de tiempo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35240" y="2825496"/>
            <a:ext cx="192024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2825496"/>
            <a:ext cx="192024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555480" y="2825496"/>
            <a:ext cx="128016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55480" y="2825496"/>
            <a:ext cx="12801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3186684"/>
            <a:ext cx="10515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186684"/>
            <a:ext cx="10515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PB-04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600200" y="3186684"/>
            <a:ext cx="60350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00200" y="3186684"/>
            <a:ext cx="603504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el modelo LSTM con datos históricos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35240" y="3186684"/>
            <a:ext cx="19202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3186684"/>
            <a:ext cx="192024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555480" y="3186684"/>
            <a:ext cx="12801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55480" y="3186684"/>
            <a:ext cx="12801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3547872"/>
            <a:ext cx="105156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547872"/>
            <a:ext cx="10515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PB-05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600200" y="3547872"/>
            <a:ext cx="603504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00200" y="3547872"/>
            <a:ext cx="603504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para consultar el estado y las predicciones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635240" y="3547872"/>
            <a:ext cx="192024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35240" y="3547872"/>
            <a:ext cx="192024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555480" y="3547872"/>
            <a:ext cx="128016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55480" y="3547872"/>
            <a:ext cx="12801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3909060"/>
            <a:ext cx="10515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909060"/>
            <a:ext cx="10515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PB-06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600200" y="3909060"/>
            <a:ext cx="60350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00200" y="3909060"/>
            <a:ext cx="603504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el semáforo de salud por máquina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635240" y="3909060"/>
            <a:ext cx="19202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35240" y="3909060"/>
            <a:ext cx="192024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555480" y="3909060"/>
            <a:ext cx="12801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55480" y="3909060"/>
            <a:ext cx="12801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48640" y="4270248"/>
            <a:ext cx="105156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4270248"/>
            <a:ext cx="10515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PB-07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600200" y="4270248"/>
            <a:ext cx="603504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00200" y="4270248"/>
            <a:ext cx="603504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 automáticas (push / email)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635240" y="4270248"/>
            <a:ext cx="192024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35240" y="4270248"/>
            <a:ext cx="192024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9555480" y="4270248"/>
            <a:ext cx="128016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555480" y="4270248"/>
            <a:ext cx="12801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48640" y="4631436"/>
            <a:ext cx="10515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4631436"/>
            <a:ext cx="10515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PB-08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1600200" y="4631436"/>
            <a:ext cx="60350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00200" y="4631436"/>
            <a:ext cx="603504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y roles de usuario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635240" y="4631436"/>
            <a:ext cx="19202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35240" y="4631436"/>
            <a:ext cx="192024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9555480" y="4631436"/>
            <a:ext cx="12801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555480" y="4631436"/>
            <a:ext cx="12801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548640" y="4992624"/>
            <a:ext cx="105156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" y="4992624"/>
            <a:ext cx="10515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PB-09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600200" y="4992624"/>
            <a:ext cx="603504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600200" y="4992624"/>
            <a:ext cx="603504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exportables (PDF / Excel)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7635240" y="4992624"/>
            <a:ext cx="192024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35240" y="4992624"/>
            <a:ext cx="192024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9555480" y="4992624"/>
            <a:ext cx="1280160" cy="361188"/>
          </a:xfrm>
          <a:prstGeom prst="rect">
            <a:avLst/>
          </a:prstGeom>
          <a:solidFill>
            <a:srgbClr val="F3F7F8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555480" y="4992624"/>
            <a:ext cx="12801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48640" y="5353812"/>
            <a:ext cx="10515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48640" y="5353812"/>
            <a:ext cx="10515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PB-10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1600200" y="5353812"/>
            <a:ext cx="60350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600200" y="5353812"/>
            <a:ext cx="603504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y despliegue con Docker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7635240" y="5353812"/>
            <a:ext cx="19202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635240" y="5353812"/>
            <a:ext cx="192024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9555480" y="5353812"/>
            <a:ext cx="12801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555480" y="5353812"/>
            <a:ext cx="1280160" cy="3611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F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 EN GITHUB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se vería el dashboard (maqueta)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5875">
            <a:solidFill>
              <a:srgbClr val="C7D6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Dashboard de Planta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155680" y="1810512"/>
            <a:ext cx="256032" cy="256032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94560"/>
            <a:ext cx="1737360" cy="4069080"/>
          </a:xfrm>
          <a:prstGeom prst="rect">
            <a:avLst/>
          </a:prstGeom>
          <a:solidFill>
            <a:srgbClr val="F3F7F8"/>
          </a:solidFill>
          <a:ln w="6350">
            <a:solidFill>
              <a:srgbClr val="E0E8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42316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9260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FA3A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42900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29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9319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31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443484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434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2377440"/>
            <a:ext cx="2137410" cy="868680"/>
          </a:xfrm>
          <a:prstGeom prst="roundRect">
            <a:avLst>
              <a:gd name="adj" fmla="val 6316"/>
            </a:avLst>
          </a:prstGeom>
          <a:solidFill>
            <a:srgbClr val="F3F7F8"/>
          </a:solidFill>
          <a:ln w="6350">
            <a:solidFill>
              <a:srgbClr val="E0E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2441448"/>
            <a:ext cx="1917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78608" y="2770632"/>
            <a:ext cx="146304" cy="14630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3" name="Text 21"/>
          <p:cNvSpPr/>
          <p:nvPr/>
        </p:nvSpPr>
        <p:spPr>
          <a:xfrm>
            <a:off x="2788920" y="2706624"/>
            <a:ext cx="16802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43450" y="2377440"/>
            <a:ext cx="2137410" cy="868680"/>
          </a:xfrm>
          <a:prstGeom prst="roundRect">
            <a:avLst>
              <a:gd name="adj" fmla="val 6316"/>
            </a:avLst>
          </a:prstGeom>
          <a:solidFill>
            <a:srgbClr val="F3F7F8"/>
          </a:solidFill>
          <a:ln w="6350">
            <a:solidFill>
              <a:srgbClr val="E0E8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3178" y="2441448"/>
            <a:ext cx="1917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53178" y="2770632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5063490" y="2706624"/>
            <a:ext cx="16802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18020" y="2377440"/>
            <a:ext cx="2137410" cy="868680"/>
          </a:xfrm>
          <a:prstGeom prst="roundRect">
            <a:avLst>
              <a:gd name="adj" fmla="val 6316"/>
            </a:avLst>
          </a:prstGeom>
          <a:solidFill>
            <a:srgbClr val="F3F7F8"/>
          </a:solidFill>
          <a:ln w="6350">
            <a:solidFill>
              <a:srgbClr val="E0E8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27748" y="2441448"/>
            <a:ext cx="1917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27748" y="2770632"/>
            <a:ext cx="146304" cy="14630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1" name="Text 29"/>
          <p:cNvSpPr/>
          <p:nvPr/>
        </p:nvSpPr>
        <p:spPr>
          <a:xfrm>
            <a:off x="7338060" y="2706624"/>
            <a:ext cx="16802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292590" y="2377440"/>
            <a:ext cx="2137410" cy="868680"/>
          </a:xfrm>
          <a:prstGeom prst="roundRect">
            <a:avLst>
              <a:gd name="adj" fmla="val 6316"/>
            </a:avLst>
          </a:prstGeom>
          <a:solidFill>
            <a:srgbClr val="F3F7F8"/>
          </a:solidFill>
          <a:ln w="6350">
            <a:solidFill>
              <a:srgbClr val="E0E8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02318" y="2441448"/>
            <a:ext cx="1917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402318" y="2770632"/>
            <a:ext cx="146304" cy="14630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5" name="Text 33"/>
          <p:cNvSpPr/>
          <p:nvPr/>
        </p:nvSpPr>
        <p:spPr>
          <a:xfrm>
            <a:off x="9612630" y="2706624"/>
            <a:ext cx="16802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68880" y="3429000"/>
            <a:ext cx="5555894" cy="2651760"/>
          </a:xfrm>
          <a:prstGeom prst="roundRect">
            <a:avLst>
              <a:gd name="adj" fmla="val 2069"/>
            </a:avLst>
          </a:prstGeom>
          <a:solidFill>
            <a:srgbClr val="F3F7F8"/>
          </a:solidFill>
          <a:ln w="6350">
            <a:solidFill>
              <a:srgbClr val="E0E8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3520440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Vibración — Motor M-04 (tiempo real)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51760" y="5157216"/>
            <a:ext cx="576682" cy="-196596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28442" y="4960620"/>
            <a:ext cx="576682" cy="294894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05123" y="5255514"/>
            <a:ext cx="576682" cy="-49149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1805" y="4764024"/>
            <a:ext cx="576682" cy="98298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8486" y="4862322"/>
            <a:ext cx="576682" cy="-393192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35168" y="4469130"/>
            <a:ext cx="576682" cy="49149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11850" y="4960620"/>
            <a:ext cx="576682" cy="-786384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88531" y="4174236"/>
            <a:ext cx="576682" cy="49149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65213" y="4665726"/>
            <a:ext cx="576682" cy="393192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51760" y="5943600"/>
            <a:ext cx="5190134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93608" y="3429000"/>
            <a:ext cx="3136392" cy="2651760"/>
          </a:xfrm>
          <a:prstGeom prst="roundRect">
            <a:avLst>
              <a:gd name="adj" fmla="val 2069"/>
            </a:avLst>
          </a:prstGeom>
          <a:solidFill>
            <a:srgbClr val="FFF1EA"/>
          </a:solidFill>
          <a:ln w="6350">
            <a:solidFill>
              <a:srgbClr val="F3C6A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30768" y="3520440"/>
            <a:ext cx="2957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recientes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458200" y="3941064"/>
            <a:ext cx="64008" cy="640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1" name="Text 49"/>
          <p:cNvSpPr/>
          <p:nvPr/>
        </p:nvSpPr>
        <p:spPr>
          <a:xfrm>
            <a:off x="8613648" y="3831336"/>
            <a:ext cx="25914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M-04: vibración rara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458200" y="4507992"/>
            <a:ext cx="64008" cy="640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3" name="Text 51"/>
          <p:cNvSpPr/>
          <p:nvPr/>
        </p:nvSpPr>
        <p:spPr>
          <a:xfrm>
            <a:off x="8613648" y="4398264"/>
            <a:ext cx="25914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probable en 36-48 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458200" y="5074920"/>
            <a:ext cx="64008" cy="640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5" name="Text 53"/>
          <p:cNvSpPr/>
          <p:nvPr/>
        </p:nvSpPr>
        <p:spPr>
          <a:xfrm>
            <a:off x="8613648" y="4965192"/>
            <a:ext cx="25914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Sospecha: rodamiento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" y="637336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maqueta a mano alzada, solo para tener una idea de cómo iría acomodado el dashboard.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F3A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GANA CON ESTO?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1A2433"/>
          </a:solidFill>
          <a:ln w="12700">
            <a:solidFill>
              <a:srgbClr val="2E4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03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paros sorpresa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sabemos con tiempo que algo va a fallar, se puede planear la reparación.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1A2433"/>
          </a:solidFill>
          <a:ln w="12700">
            <a:solidFill>
              <a:srgbClr val="2E4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103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788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gasto en emergencias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20440" y="3520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más barato hacer mantenimiento preventivo que arreglar algo ya roto.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1A2433"/>
          </a:solidFill>
          <a:ln w="12700">
            <a:solidFill>
              <a:srgbClr val="2E4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103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2788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que duran más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3520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desgaste se detecta a tiempo, se evita que el daño sea más grande.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19202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1A2433"/>
          </a:solidFill>
          <a:ln w="12700">
            <a:solidFill>
              <a:srgbClr val="2E4A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103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98280" y="2788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para decidir mejor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98280" y="3520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un historial de cada máquina que ayuda a tomar mejores decisiones.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MONITIA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Tecnológica de Nezahualcóyotl · Desarrollo y Gestión de Software · ITIC-901M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MONITIA — Monitoreo Predictivo Industrial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2026-07-13T01:46:00Z</dcterms:created>
  <dcterms:modified xsi:type="dcterms:W3CDTF">2026-07-13T01:46:00Z</dcterms:modified>
</cp:coreProperties>
</file>